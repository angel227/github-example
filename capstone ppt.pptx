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3" r:id="rId1"/>
  </p:sldMasterIdLst>
  <p:sldIdLst>
    <p:sldId id="257" r:id="rId2"/>
    <p:sldId id="262" r:id="rId3"/>
    <p:sldId id="263" r:id="rId4"/>
    <p:sldId id="264" r:id="rId5"/>
    <p:sldId id="265" r:id="rId6"/>
    <p:sldId id="266" r:id="rId7"/>
    <p:sldId id="267"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60"/>
  </p:normalViewPr>
  <p:slideViewPr>
    <p:cSldViewPr snapToGrid="0">
      <p:cViewPr varScale="1">
        <p:scale>
          <a:sx n="86" d="100"/>
          <a:sy n="86" d="100"/>
        </p:scale>
        <p:origin x="28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1/18/2020</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1/18/2020</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1/18/2020</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1/18/2020</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8223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023329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10073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1/18/2020</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 id="2147483664" r:id="rId10"/>
    <p:sldLayoutId id="2147483666"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corra.com.au/australian-postcode-location-dat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r="-1"/>
          <a:stretch/>
        </p:blipFill>
        <p:spPr>
          <a:xfrm>
            <a:off x="20" y="10"/>
            <a:ext cx="12191979" cy="6857990"/>
          </a:xfrm>
          <a:prstGeom prst="rect">
            <a:avLst/>
          </a:prstGeom>
        </p:spPr>
      </p:pic>
      <p:sp>
        <p:nvSpPr>
          <p:cNvPr id="82" name="Rectangle 81">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ctangle 83">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3" y="2355458"/>
            <a:ext cx="4775075" cy="1630907"/>
          </a:xfrm>
        </p:spPr>
        <p:txBody>
          <a:bodyPr>
            <a:normAutofit/>
          </a:bodyPr>
          <a:lstStyle/>
          <a:p>
            <a:r>
              <a:rPr lang="en-AU" sz="2400" b="1" dirty="0"/>
              <a:t>The Classification of Suburbs in Victoria, Australia</a:t>
            </a:r>
            <a:br>
              <a:rPr lang="en-AU" sz="2400" dirty="0"/>
            </a:br>
            <a:endParaRPr lang="en-US" sz="2400" dirty="0">
              <a:solidFill>
                <a:schemeClr val="tx1"/>
              </a:solidFill>
            </a:endParaRP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6033793" y="3995988"/>
            <a:ext cx="4775075" cy="559656"/>
          </a:xfrm>
        </p:spPr>
        <p:txBody>
          <a:bodyPr>
            <a:normAutofit/>
          </a:bodyPr>
          <a:lstStyle/>
          <a:p>
            <a:pPr>
              <a:spcAft>
                <a:spcPts val="600"/>
              </a:spcAft>
            </a:pPr>
            <a:r>
              <a:rPr lang="en-US" dirty="0">
                <a:solidFill>
                  <a:schemeClr val="tx1"/>
                </a:solidFill>
              </a:rPr>
              <a:t>By Angel W</a:t>
            </a:r>
          </a:p>
        </p:txBody>
      </p:sp>
    </p:spTree>
    <p:extLst>
      <p:ext uri="{BB962C8B-B14F-4D97-AF65-F5344CB8AC3E}">
        <p14:creationId xmlns:p14="http://schemas.microsoft.com/office/powerpoint/2010/main" val="258428075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E96A4-7A55-4019-A021-1A64A835A508}"/>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2EA3C3C4-1985-4A3E-9384-9A41347629E9}"/>
              </a:ext>
            </a:extLst>
          </p:cNvPr>
          <p:cNvSpPr>
            <a:spLocks noGrp="1"/>
          </p:cNvSpPr>
          <p:nvPr>
            <p:ph idx="1"/>
          </p:nvPr>
        </p:nvSpPr>
        <p:spPr/>
        <p:txBody>
          <a:bodyPr/>
          <a:lstStyle/>
          <a:p>
            <a:r>
              <a:rPr lang="en-US" sz="1800" dirty="0"/>
              <a:t>In this project we will try to compare different suburbs in Victoria, Australia. </a:t>
            </a:r>
          </a:p>
          <a:p>
            <a:r>
              <a:rPr lang="en-US" sz="1800" dirty="0"/>
              <a:t>This report will be targeted to people interested in moving into one of the suburbs in Victoria, Australia.</a:t>
            </a:r>
          </a:p>
          <a:p>
            <a:r>
              <a:rPr lang="en-US" sz="1800" dirty="0"/>
              <a:t>For analysis purposes, we will group the suburbs based on the occurrences of venues from different categories, this will then be converted into a easily understandable visual representation that shows the distribution of different types of suburbs so that the individuals interested in moving into the suburbs in Victoria can choose the best type of suburb that suits their needs.</a:t>
            </a:r>
          </a:p>
          <a:p>
            <a:endParaRPr lang="en-AU" dirty="0"/>
          </a:p>
        </p:txBody>
      </p:sp>
    </p:spTree>
    <p:extLst>
      <p:ext uri="{BB962C8B-B14F-4D97-AF65-F5344CB8AC3E}">
        <p14:creationId xmlns:p14="http://schemas.microsoft.com/office/powerpoint/2010/main" val="1222347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F01E1-46EF-49BC-9074-B9D390AF1DA9}"/>
              </a:ext>
            </a:extLst>
          </p:cNvPr>
          <p:cNvSpPr>
            <a:spLocks noGrp="1"/>
          </p:cNvSpPr>
          <p:nvPr>
            <p:ph type="title"/>
          </p:nvPr>
        </p:nvSpPr>
        <p:spPr/>
        <p:txBody>
          <a:bodyPr/>
          <a:lstStyle/>
          <a:p>
            <a:r>
              <a:rPr lang="en-AU" dirty="0"/>
              <a:t>Data acquisition and cleaning</a:t>
            </a:r>
          </a:p>
        </p:txBody>
      </p:sp>
      <p:sp>
        <p:nvSpPr>
          <p:cNvPr id="3" name="Content Placeholder 2">
            <a:extLst>
              <a:ext uri="{FF2B5EF4-FFF2-40B4-BE49-F238E27FC236}">
                <a16:creationId xmlns:a16="http://schemas.microsoft.com/office/drawing/2014/main" id="{B081CAFD-79C9-45A0-9F00-82A00278B2E2}"/>
              </a:ext>
            </a:extLst>
          </p:cNvPr>
          <p:cNvSpPr>
            <a:spLocks noGrp="1"/>
          </p:cNvSpPr>
          <p:nvPr>
            <p:ph idx="1"/>
          </p:nvPr>
        </p:nvSpPr>
        <p:spPr/>
        <p:txBody>
          <a:bodyPr/>
          <a:lstStyle/>
          <a:p>
            <a:r>
              <a:rPr lang="en-US" dirty="0"/>
              <a:t>The names and geographical locations of the suburbs in Victoria, Australia are obtained using a csv file called 'Australian_Post_Codes_Lat_Lon.csv'. The csv file could be found from the following link: </a:t>
            </a:r>
            <a:r>
              <a:rPr lang="en-US" u="sng" dirty="0">
                <a:hlinkClick r:id="rId2"/>
              </a:rPr>
              <a:t>http://www.corra.com.au/australian-postcode-location-data/</a:t>
            </a:r>
            <a:endParaRPr lang="en-US" dirty="0"/>
          </a:p>
          <a:p>
            <a:r>
              <a:rPr lang="en-US" dirty="0"/>
              <a:t>Coordinate of the central city of the Victoria State, Melbourne will be obtained using Google Maps API geocoding.</a:t>
            </a:r>
          </a:p>
          <a:p>
            <a:r>
              <a:rPr lang="en-US" dirty="0"/>
              <a:t>The venues in each suburb, their associated categories and their geographical location will be obtained using Foursquare API</a:t>
            </a:r>
          </a:p>
          <a:p>
            <a:r>
              <a:rPr lang="en-US" dirty="0"/>
              <a:t>There are 16080 rows and 7 features in the raw dataset.</a:t>
            </a:r>
          </a:p>
          <a:p>
            <a:r>
              <a:rPr lang="en-US" dirty="0"/>
              <a:t>Cleaned data contains 50 rows and 3 features </a:t>
            </a:r>
          </a:p>
          <a:p>
            <a:endParaRPr lang="en-AU" dirty="0"/>
          </a:p>
        </p:txBody>
      </p:sp>
    </p:spTree>
    <p:extLst>
      <p:ext uri="{BB962C8B-B14F-4D97-AF65-F5344CB8AC3E}">
        <p14:creationId xmlns:p14="http://schemas.microsoft.com/office/powerpoint/2010/main" val="3257687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C78C6-C6DC-42C0-BC10-CB42B7753844}"/>
              </a:ext>
            </a:extLst>
          </p:cNvPr>
          <p:cNvSpPr>
            <a:spLocks noGrp="1"/>
          </p:cNvSpPr>
          <p:nvPr>
            <p:ph type="title"/>
          </p:nvPr>
        </p:nvSpPr>
        <p:spPr/>
        <p:txBody>
          <a:bodyPr/>
          <a:lstStyle/>
          <a:p>
            <a:r>
              <a:rPr lang="en-AU" dirty="0"/>
              <a:t>Results</a:t>
            </a:r>
          </a:p>
        </p:txBody>
      </p:sp>
      <p:sp>
        <p:nvSpPr>
          <p:cNvPr id="3" name="Content Placeholder 2">
            <a:extLst>
              <a:ext uri="{FF2B5EF4-FFF2-40B4-BE49-F238E27FC236}">
                <a16:creationId xmlns:a16="http://schemas.microsoft.com/office/drawing/2014/main" id="{5D22D9BC-E3C9-436C-BEED-E4DCDC693ADB}"/>
              </a:ext>
            </a:extLst>
          </p:cNvPr>
          <p:cNvSpPr>
            <a:spLocks noGrp="1"/>
          </p:cNvSpPr>
          <p:nvPr>
            <p:ph idx="1"/>
          </p:nvPr>
        </p:nvSpPr>
        <p:spPr>
          <a:xfrm>
            <a:off x="1066800" y="1723978"/>
            <a:ext cx="10058400" cy="3849624"/>
          </a:xfrm>
        </p:spPr>
        <p:txBody>
          <a:bodyPr/>
          <a:lstStyle/>
          <a:p>
            <a:r>
              <a:rPr lang="en-AU" dirty="0"/>
              <a:t>The distribution and clustering of suburbs</a:t>
            </a:r>
          </a:p>
        </p:txBody>
      </p:sp>
      <p:pic>
        <p:nvPicPr>
          <p:cNvPr id="4" name="Picture 3">
            <a:extLst>
              <a:ext uri="{FF2B5EF4-FFF2-40B4-BE49-F238E27FC236}">
                <a16:creationId xmlns:a16="http://schemas.microsoft.com/office/drawing/2014/main" id="{025DBD7C-0B16-4DDE-AAEB-3BBE4A238626}"/>
              </a:ext>
            </a:extLst>
          </p:cNvPr>
          <p:cNvPicPr/>
          <p:nvPr/>
        </p:nvPicPr>
        <p:blipFill>
          <a:blip r:embed="rId2"/>
          <a:stretch>
            <a:fillRect/>
          </a:stretch>
        </p:blipFill>
        <p:spPr>
          <a:xfrm>
            <a:off x="2304693" y="2204374"/>
            <a:ext cx="7051179" cy="4027759"/>
          </a:xfrm>
          <a:prstGeom prst="rect">
            <a:avLst/>
          </a:prstGeom>
        </p:spPr>
      </p:pic>
    </p:spTree>
    <p:extLst>
      <p:ext uri="{BB962C8B-B14F-4D97-AF65-F5344CB8AC3E}">
        <p14:creationId xmlns:p14="http://schemas.microsoft.com/office/powerpoint/2010/main" val="1510119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DF8A0-720E-41E8-A03E-A1A4846FD112}"/>
              </a:ext>
            </a:extLst>
          </p:cNvPr>
          <p:cNvSpPr>
            <a:spLocks noGrp="1"/>
          </p:cNvSpPr>
          <p:nvPr>
            <p:ph type="title"/>
          </p:nvPr>
        </p:nvSpPr>
        <p:spPr>
          <a:xfrm>
            <a:off x="553844" y="298445"/>
            <a:ext cx="10058400" cy="1371600"/>
          </a:xfrm>
        </p:spPr>
        <p:txBody>
          <a:bodyPr/>
          <a:lstStyle/>
          <a:p>
            <a:r>
              <a:rPr lang="en-AU" dirty="0"/>
              <a:t>Results – cluster 0 </a:t>
            </a:r>
          </a:p>
        </p:txBody>
      </p:sp>
      <p:pic>
        <p:nvPicPr>
          <p:cNvPr id="4" name="Picture 3">
            <a:extLst>
              <a:ext uri="{FF2B5EF4-FFF2-40B4-BE49-F238E27FC236}">
                <a16:creationId xmlns:a16="http://schemas.microsoft.com/office/drawing/2014/main" id="{9D3A8BDD-C068-4CB1-A4B1-ABDECAB5CEC9}"/>
              </a:ext>
            </a:extLst>
          </p:cNvPr>
          <p:cNvPicPr>
            <a:picLocks noChangeAspect="1"/>
          </p:cNvPicPr>
          <p:nvPr/>
        </p:nvPicPr>
        <p:blipFill>
          <a:blip r:embed="rId2"/>
          <a:stretch>
            <a:fillRect/>
          </a:stretch>
        </p:blipFill>
        <p:spPr>
          <a:xfrm>
            <a:off x="744757" y="1670045"/>
            <a:ext cx="7027644" cy="4545361"/>
          </a:xfrm>
          <a:prstGeom prst="rect">
            <a:avLst/>
          </a:prstGeom>
        </p:spPr>
      </p:pic>
      <p:sp>
        <p:nvSpPr>
          <p:cNvPr id="5" name="TextBox 4">
            <a:extLst>
              <a:ext uri="{FF2B5EF4-FFF2-40B4-BE49-F238E27FC236}">
                <a16:creationId xmlns:a16="http://schemas.microsoft.com/office/drawing/2014/main" id="{9FEAE025-7B1A-425B-AFFC-78C490922019}"/>
              </a:ext>
            </a:extLst>
          </p:cNvPr>
          <p:cNvSpPr txBox="1"/>
          <p:nvPr/>
        </p:nvSpPr>
        <p:spPr>
          <a:xfrm>
            <a:off x="7939668" y="2244060"/>
            <a:ext cx="3869970" cy="2369880"/>
          </a:xfrm>
          <a:prstGeom prst="rect">
            <a:avLst/>
          </a:prstGeom>
          <a:noFill/>
        </p:spPr>
        <p:txBody>
          <a:bodyPr wrap="none" rtlCol="0">
            <a:spAutoFit/>
          </a:bodyPr>
          <a:lstStyle/>
          <a:p>
            <a:r>
              <a:rPr lang="en-AU" dirty="0"/>
              <a:t>Common venues include:</a:t>
            </a:r>
          </a:p>
          <a:p>
            <a:endParaRPr lang="en-AU" dirty="0"/>
          </a:p>
          <a:p>
            <a:r>
              <a:rPr lang="en-AU" sz="1400" dirty="0"/>
              <a:t>Bus stop, train stations – suitable for those</a:t>
            </a:r>
          </a:p>
          <a:p>
            <a:r>
              <a:rPr lang="en-AU" sz="1400" dirty="0"/>
              <a:t>who prefer to take public transports</a:t>
            </a:r>
          </a:p>
          <a:p>
            <a:endParaRPr lang="en-AU" sz="1400" dirty="0"/>
          </a:p>
          <a:p>
            <a:r>
              <a:rPr lang="en-AU" sz="1400" dirty="0"/>
              <a:t>Park, playground, dance studio – may suit </a:t>
            </a:r>
          </a:p>
          <a:p>
            <a:r>
              <a:rPr lang="en-AU" sz="1400" dirty="0"/>
              <a:t>families with children</a:t>
            </a:r>
          </a:p>
          <a:p>
            <a:endParaRPr lang="en-AU" sz="1400" dirty="0"/>
          </a:p>
          <a:p>
            <a:r>
              <a:rPr lang="en-AU" sz="1400" dirty="0"/>
              <a:t>Markets, shopping malls – convenient for </a:t>
            </a:r>
          </a:p>
          <a:p>
            <a:r>
              <a:rPr lang="en-AU" sz="1400" dirty="0"/>
              <a:t>everyday life</a:t>
            </a:r>
          </a:p>
        </p:txBody>
      </p:sp>
    </p:spTree>
    <p:extLst>
      <p:ext uri="{BB962C8B-B14F-4D97-AF65-F5344CB8AC3E}">
        <p14:creationId xmlns:p14="http://schemas.microsoft.com/office/powerpoint/2010/main" val="1351847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EA7BD-8AC4-4E93-84F3-2D97AE6504E4}"/>
              </a:ext>
            </a:extLst>
          </p:cNvPr>
          <p:cNvSpPr>
            <a:spLocks noGrp="1"/>
          </p:cNvSpPr>
          <p:nvPr>
            <p:ph type="title"/>
          </p:nvPr>
        </p:nvSpPr>
        <p:spPr/>
        <p:txBody>
          <a:bodyPr/>
          <a:lstStyle/>
          <a:p>
            <a:r>
              <a:rPr lang="en-AU" dirty="0"/>
              <a:t>Results – cluster 1</a:t>
            </a:r>
          </a:p>
        </p:txBody>
      </p:sp>
      <p:pic>
        <p:nvPicPr>
          <p:cNvPr id="5" name="Picture 4">
            <a:extLst>
              <a:ext uri="{FF2B5EF4-FFF2-40B4-BE49-F238E27FC236}">
                <a16:creationId xmlns:a16="http://schemas.microsoft.com/office/drawing/2014/main" id="{EF283F1A-05BE-4840-8F57-93DA4B9A446E}"/>
              </a:ext>
            </a:extLst>
          </p:cNvPr>
          <p:cNvPicPr/>
          <p:nvPr/>
        </p:nvPicPr>
        <p:blipFill>
          <a:blip r:embed="rId2"/>
          <a:stretch>
            <a:fillRect/>
          </a:stretch>
        </p:blipFill>
        <p:spPr>
          <a:xfrm>
            <a:off x="1204305" y="2106959"/>
            <a:ext cx="9783390" cy="1630292"/>
          </a:xfrm>
          <a:prstGeom prst="rect">
            <a:avLst/>
          </a:prstGeom>
        </p:spPr>
      </p:pic>
      <p:sp>
        <p:nvSpPr>
          <p:cNvPr id="6" name="TextBox 5">
            <a:extLst>
              <a:ext uri="{FF2B5EF4-FFF2-40B4-BE49-F238E27FC236}">
                <a16:creationId xmlns:a16="http://schemas.microsoft.com/office/drawing/2014/main" id="{50AFCB6F-269E-4195-9FED-D3A10B500C6B}"/>
              </a:ext>
            </a:extLst>
          </p:cNvPr>
          <p:cNvSpPr txBox="1"/>
          <p:nvPr/>
        </p:nvSpPr>
        <p:spPr>
          <a:xfrm>
            <a:off x="1311966" y="4201214"/>
            <a:ext cx="5498621" cy="1200329"/>
          </a:xfrm>
          <a:prstGeom prst="rect">
            <a:avLst/>
          </a:prstGeom>
          <a:noFill/>
        </p:spPr>
        <p:txBody>
          <a:bodyPr wrap="none" rtlCol="0">
            <a:spAutoFit/>
          </a:bodyPr>
          <a:lstStyle/>
          <a:p>
            <a:r>
              <a:rPr lang="en-AU" dirty="0"/>
              <a:t>The most common venues: </a:t>
            </a:r>
          </a:p>
          <a:p>
            <a:endParaRPr lang="en-AU" dirty="0"/>
          </a:p>
          <a:p>
            <a:r>
              <a:rPr lang="en-AU" dirty="0"/>
              <a:t>Athletics &amp; sports – suitable for sporty individuals</a:t>
            </a:r>
          </a:p>
          <a:p>
            <a:r>
              <a:rPr lang="en-AU" dirty="0"/>
              <a:t>Farmers market – convenient for everyday life</a:t>
            </a:r>
          </a:p>
        </p:txBody>
      </p:sp>
    </p:spTree>
    <p:extLst>
      <p:ext uri="{BB962C8B-B14F-4D97-AF65-F5344CB8AC3E}">
        <p14:creationId xmlns:p14="http://schemas.microsoft.com/office/powerpoint/2010/main" val="1285921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55BD1-42A0-4119-81A7-D7E578374EAD}"/>
              </a:ext>
            </a:extLst>
          </p:cNvPr>
          <p:cNvSpPr>
            <a:spLocks noGrp="1"/>
          </p:cNvSpPr>
          <p:nvPr>
            <p:ph type="title"/>
          </p:nvPr>
        </p:nvSpPr>
        <p:spPr/>
        <p:txBody>
          <a:bodyPr/>
          <a:lstStyle/>
          <a:p>
            <a:r>
              <a:rPr lang="en-AU" dirty="0"/>
              <a:t>Results – cluster 2 &amp; 3</a:t>
            </a:r>
          </a:p>
        </p:txBody>
      </p:sp>
      <p:pic>
        <p:nvPicPr>
          <p:cNvPr id="4" name="Picture 3">
            <a:extLst>
              <a:ext uri="{FF2B5EF4-FFF2-40B4-BE49-F238E27FC236}">
                <a16:creationId xmlns:a16="http://schemas.microsoft.com/office/drawing/2014/main" id="{8D019967-6F2D-405E-B6C1-8933E1550A0C}"/>
              </a:ext>
            </a:extLst>
          </p:cNvPr>
          <p:cNvPicPr/>
          <p:nvPr/>
        </p:nvPicPr>
        <p:blipFill>
          <a:blip r:embed="rId2"/>
          <a:stretch>
            <a:fillRect/>
          </a:stretch>
        </p:blipFill>
        <p:spPr>
          <a:xfrm>
            <a:off x="2349297" y="2014194"/>
            <a:ext cx="7006575" cy="944051"/>
          </a:xfrm>
          <a:prstGeom prst="rect">
            <a:avLst/>
          </a:prstGeom>
        </p:spPr>
      </p:pic>
      <p:pic>
        <p:nvPicPr>
          <p:cNvPr id="5" name="Picture 4">
            <a:extLst>
              <a:ext uri="{FF2B5EF4-FFF2-40B4-BE49-F238E27FC236}">
                <a16:creationId xmlns:a16="http://schemas.microsoft.com/office/drawing/2014/main" id="{3D9E1E53-C36C-48A9-AA40-A3DC5D30DB64}"/>
              </a:ext>
            </a:extLst>
          </p:cNvPr>
          <p:cNvPicPr/>
          <p:nvPr/>
        </p:nvPicPr>
        <p:blipFill>
          <a:blip r:embed="rId3"/>
          <a:stretch>
            <a:fillRect/>
          </a:stretch>
        </p:blipFill>
        <p:spPr>
          <a:xfrm>
            <a:off x="2349296" y="3429000"/>
            <a:ext cx="7006575" cy="854988"/>
          </a:xfrm>
          <a:prstGeom prst="rect">
            <a:avLst/>
          </a:prstGeom>
        </p:spPr>
      </p:pic>
      <p:sp>
        <p:nvSpPr>
          <p:cNvPr id="6" name="TextBox 5">
            <a:extLst>
              <a:ext uri="{FF2B5EF4-FFF2-40B4-BE49-F238E27FC236}">
                <a16:creationId xmlns:a16="http://schemas.microsoft.com/office/drawing/2014/main" id="{996F53DF-1465-4D52-83E0-0417B051FC5C}"/>
              </a:ext>
            </a:extLst>
          </p:cNvPr>
          <p:cNvSpPr txBox="1"/>
          <p:nvPr/>
        </p:nvSpPr>
        <p:spPr>
          <a:xfrm>
            <a:off x="2349296" y="1644862"/>
            <a:ext cx="1140056" cy="369332"/>
          </a:xfrm>
          <a:prstGeom prst="rect">
            <a:avLst/>
          </a:prstGeom>
          <a:noFill/>
        </p:spPr>
        <p:txBody>
          <a:bodyPr wrap="none" rtlCol="0">
            <a:spAutoFit/>
          </a:bodyPr>
          <a:lstStyle/>
          <a:p>
            <a:r>
              <a:rPr lang="en-AU" dirty="0"/>
              <a:t>Cluster 2</a:t>
            </a:r>
          </a:p>
        </p:txBody>
      </p:sp>
      <p:sp>
        <p:nvSpPr>
          <p:cNvPr id="7" name="TextBox 6">
            <a:extLst>
              <a:ext uri="{FF2B5EF4-FFF2-40B4-BE49-F238E27FC236}">
                <a16:creationId xmlns:a16="http://schemas.microsoft.com/office/drawing/2014/main" id="{5B8629DF-8656-4A15-B14B-59D26D2A9500}"/>
              </a:ext>
            </a:extLst>
          </p:cNvPr>
          <p:cNvSpPr txBox="1"/>
          <p:nvPr/>
        </p:nvSpPr>
        <p:spPr>
          <a:xfrm>
            <a:off x="2349296" y="3076732"/>
            <a:ext cx="1140056" cy="369332"/>
          </a:xfrm>
          <a:prstGeom prst="rect">
            <a:avLst/>
          </a:prstGeom>
          <a:noFill/>
        </p:spPr>
        <p:txBody>
          <a:bodyPr wrap="none" rtlCol="0">
            <a:spAutoFit/>
          </a:bodyPr>
          <a:lstStyle/>
          <a:p>
            <a:r>
              <a:rPr lang="en-AU" dirty="0"/>
              <a:t>Cluster 3</a:t>
            </a:r>
          </a:p>
        </p:txBody>
      </p:sp>
      <p:sp>
        <p:nvSpPr>
          <p:cNvPr id="8" name="Rectangle 7">
            <a:extLst>
              <a:ext uri="{FF2B5EF4-FFF2-40B4-BE49-F238E27FC236}">
                <a16:creationId xmlns:a16="http://schemas.microsoft.com/office/drawing/2014/main" id="{F94B27F2-F164-494B-855A-8A4A473FB5DF}"/>
              </a:ext>
            </a:extLst>
          </p:cNvPr>
          <p:cNvSpPr/>
          <p:nvPr/>
        </p:nvSpPr>
        <p:spPr>
          <a:xfrm>
            <a:off x="2804583" y="4754743"/>
            <a:ext cx="6096000" cy="1200329"/>
          </a:xfrm>
          <a:prstGeom prst="rect">
            <a:avLst/>
          </a:prstGeom>
        </p:spPr>
        <p:txBody>
          <a:bodyPr>
            <a:spAutoFit/>
          </a:bodyPr>
          <a:lstStyle/>
          <a:p>
            <a:pPr marL="457200">
              <a:spcBef>
                <a:spcPts val="1200"/>
              </a:spcBef>
              <a:spcAft>
                <a:spcPts val="0"/>
              </a:spcAft>
            </a:pPr>
            <a:r>
              <a:rPr lang="en-AU" dirty="0">
                <a:solidFill>
                  <a:srgbClr val="000000"/>
                </a:solidFill>
                <a:latin typeface="Century Gothic" panose="020B0502020202020204" pitchFamily="34" charset="0"/>
                <a:ea typeface="Times New Roman" panose="02020603050405020304" pitchFamily="18" charset="0"/>
                <a:cs typeface="Times New Roman" panose="02020603050405020304" pitchFamily="18" charset="0"/>
              </a:rPr>
              <a:t>Since there is only one suburb being categorised into cluster 2 and cluster 3, we can not identify a clear feature for suburbs in these clusters, in this case those suburbs will be classified as ‘others’.</a:t>
            </a:r>
            <a:endParaRPr lang="en-AU" sz="2400" dirty="0">
              <a:effectLst/>
              <a:latin typeface="Century Gothic" panose="020B0502020202020204" pitchFamily="34" charset="0"/>
              <a:ea typeface="Times New Roman" panose="02020603050405020304" pitchFamily="18" charset="0"/>
            </a:endParaRPr>
          </a:p>
        </p:txBody>
      </p:sp>
    </p:spTree>
    <p:extLst>
      <p:ext uri="{BB962C8B-B14F-4D97-AF65-F5344CB8AC3E}">
        <p14:creationId xmlns:p14="http://schemas.microsoft.com/office/powerpoint/2010/main" val="3200894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3D812-0D53-46C2-AE87-49AE68F68E94}"/>
              </a:ext>
            </a:extLst>
          </p:cNvPr>
          <p:cNvSpPr>
            <a:spLocks noGrp="1"/>
          </p:cNvSpPr>
          <p:nvPr>
            <p:ph type="title"/>
          </p:nvPr>
        </p:nvSpPr>
        <p:spPr/>
        <p:txBody>
          <a:bodyPr/>
          <a:lstStyle/>
          <a:p>
            <a:r>
              <a:rPr lang="en-AU" dirty="0"/>
              <a:t>Conclusion</a:t>
            </a:r>
          </a:p>
        </p:txBody>
      </p:sp>
      <p:sp>
        <p:nvSpPr>
          <p:cNvPr id="3" name="Content Placeholder 2">
            <a:extLst>
              <a:ext uri="{FF2B5EF4-FFF2-40B4-BE49-F238E27FC236}">
                <a16:creationId xmlns:a16="http://schemas.microsoft.com/office/drawing/2014/main" id="{E71C9A0F-4C56-4FFA-A9B4-5058958C13A9}"/>
              </a:ext>
            </a:extLst>
          </p:cNvPr>
          <p:cNvSpPr>
            <a:spLocks noGrp="1"/>
          </p:cNvSpPr>
          <p:nvPr>
            <p:ph idx="1"/>
          </p:nvPr>
        </p:nvSpPr>
        <p:spPr/>
        <p:txBody>
          <a:bodyPr/>
          <a:lstStyle/>
          <a:p>
            <a:r>
              <a:rPr lang="en-AU" sz="2000" dirty="0"/>
              <a:t>The suburbs in cluster 0 are more suitable for families with children due to its provision of public transports and facilities for entertainment.</a:t>
            </a:r>
          </a:p>
          <a:p>
            <a:r>
              <a:rPr lang="en-AU" sz="2000" dirty="0"/>
              <a:t>The suburbs in cluster 1 are more suitable for individuals who enjoy sports, since the most common venues belong to the category of ‘athletics and sports ’.</a:t>
            </a:r>
          </a:p>
          <a:p>
            <a:r>
              <a:rPr lang="en-AU" sz="2000" dirty="0"/>
              <a:t>The suburbs in cluster 2 and 3 require further in-depth analysis since their features remain unknown.</a:t>
            </a:r>
          </a:p>
          <a:p>
            <a:endParaRPr lang="en-AU" dirty="0"/>
          </a:p>
        </p:txBody>
      </p:sp>
    </p:spTree>
    <p:extLst>
      <p:ext uri="{BB962C8B-B14F-4D97-AF65-F5344CB8AC3E}">
        <p14:creationId xmlns:p14="http://schemas.microsoft.com/office/powerpoint/2010/main" val="10427603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FIVE.pptx" id="{928531FE-40B6-4895-993A-83D26AA1E005}" vid="{C99C5ABD-1620-4AD2-A38C-62625556F38B}"/>
    </a:ext>
  </a:extLst>
</a:theme>
</file>

<file path=docProps/app.xml><?xml version="1.0" encoding="utf-8"?>
<Properties xmlns="http://schemas.openxmlformats.org/officeDocument/2006/extended-properties" xmlns:vt="http://schemas.openxmlformats.org/officeDocument/2006/docPropsVTypes">
  <Template>{40295E85-BF5E-469A-A94B-9389A5A25EDC}tf78438558</Template>
  <TotalTime>0</TotalTime>
  <Words>424</Words>
  <Application>Microsoft Office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Century Gothic</vt:lpstr>
      <vt:lpstr>Garamond</vt:lpstr>
      <vt:lpstr>SavonVTI</vt:lpstr>
      <vt:lpstr>The Classification of Suburbs in Victoria, Australia </vt:lpstr>
      <vt:lpstr>Introduction</vt:lpstr>
      <vt:lpstr>Data acquisition and cleaning</vt:lpstr>
      <vt:lpstr>Results</vt:lpstr>
      <vt:lpstr>Results – cluster 0 </vt:lpstr>
      <vt:lpstr>Results – cluster 1</vt:lpstr>
      <vt:lpstr>Results – cluster 2 &amp; 3</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2020-01-18T05:01:23Z</dcterms:created>
  <dcterms:modified xsi:type="dcterms:W3CDTF">2020-01-18T05:28:16Z</dcterms:modified>
</cp:coreProperties>
</file>